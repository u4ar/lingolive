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U4AR/LingoLive" TargetMode="External"/><Relationship Id="rId6" Type="http://schemas.openxmlformats.org/officeDocument/2006/relationships/hyperlink" Target="https://storage.googleapis.com/lingolive-demo-358650584819/ai-builder-cup-2026/submission-2026-10-18/LingoLive-Demo.mp4" TargetMode="External"/><Relationship Id="rId7" Type="http://schemas.openxmlformats.org/officeDocument/2006/relationships/hyperlink" Target="https://lingolive-358650584819.us-central1.run.app" TargetMode="External"/><Relationship Id="rId8" Type="http://schemas.openxmlformats.org/officeDocument/2006/relationships/hyperlink" Target="https://storage.googleapis.com/lingolive-demo-358650584819/ai-builder-cup-2026/submission-2026-10-18/index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spcAft>
                <a:spcPts val="500"/>
              </a:spcAft>
              <a:defRPr sz="1800" b="1">
                <a:latin typeface="Arial"/>
              </a:defRPr>
            </a:pPr>
            <a:r>
              <a:t>Team Details</a:t>
            </a:r>
          </a:p>
          <a:p>
            <a:pPr>
              <a:spcAft>
                <a:spcPts val="500"/>
              </a:spcAft>
              <a:defRPr sz="1300" b="0">
                <a:latin typeface="Arial"/>
              </a:defRPr>
            </a:pPr>
            <a:r>
              <a:t>Project: LingoLive — Understand. Reply. Keep going.</a:t>
            </a:r>
          </a:p>
          <a:p>
            <a:pPr>
              <a:spcAft>
                <a:spcPts val="500"/>
              </a:spcAft>
              <a:defRPr sz="1300" b="0">
                <a:latin typeface="Arial"/>
              </a:defRPr>
            </a:pPr>
            <a:r>
              <a:t>Team name: CreativeEngine</a:t>
            </a:r>
          </a:p>
          <a:p>
            <a:pPr>
              <a:spcAft>
                <a:spcPts val="500"/>
              </a:spcAft>
              <a:defRPr sz="1300" b="0">
                <a:latin typeface="Arial"/>
              </a:defRPr>
            </a:pPr>
            <a:r>
              <a:t>Team leader: Ashish T. Vasant | Member: Janhvi Singh</a:t>
            </a:r>
          </a:p>
          <a:p>
            <a:pPr>
              <a:spcAft>
                <a:spcPts val="500"/>
              </a:spcAft>
              <a:defRPr sz="1300" b="0">
                <a:latin typeface="Arial"/>
              </a:defRPr>
            </a:pPr>
            <a:r>
              <a:t>Problem: Help migrants participate in everyday conversations in an unfamiliar language.</a:t>
            </a:r>
          </a:p>
          <a:p>
            <a:pPr>
              <a:spcAft>
                <a:spcPts val="500"/>
              </a:spcAft>
              <a:defRPr sz="1300" b="0">
                <a:latin typeface="Arial"/>
              </a:defRPr>
            </a:pPr>
            <a:r>
              <a:t>Theme: Sustainability &amp; Social Impact | Category: Accessibility</a:t>
            </a: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Brief about the idea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1353312"/>
            <a:ext cx="8138160" cy="59436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02124"/>
                </a:solidFill>
                <a:latin typeface="Arial"/>
              </a:defRPr>
            </a:pPr>
            <a:r>
              <a:t>A conversation assistant for life in a new place.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2011680"/>
            <a:ext cx="8138160" cy="96012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02124"/>
                </a:solidFill>
                <a:latin typeface="Arial"/>
              </a:defRPr>
            </a:pPr>
            <a:r>
              <a:t>LingoLive listens to another person, explains their words and offers three useful replies in the local language, with pronunciation. Plans, recent turns and location-linked memory make those replies personal.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3246120"/>
            <a:ext cx="2514600" cy="118872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1792" y="3337560"/>
            <a:ext cx="227685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Understand now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" y="3730752"/>
            <a:ext cx="2276856" cy="6675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Live speech → familiar-language meaning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337560" y="3246120"/>
            <a:ext cx="2514600" cy="118872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456432" y="3337560"/>
            <a:ext cx="227685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Reply confidently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56432" y="3730752"/>
            <a:ext cx="2276856" cy="6675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Relevant options + pronunciation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72200" y="3246120"/>
            <a:ext cx="2514600" cy="118872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91072" y="3337560"/>
            <a:ext cx="227685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Learn afterwards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91072" y="3730752"/>
            <a:ext cx="2276856" cy="6675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Saved exchanges → personal practice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83879" y="4809744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F6368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57200" y="1371600"/>
            <a:ext cx="8229600" cy="96012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76072" y="1463040"/>
            <a:ext cx="799185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The problem: understanding is only half the conversation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6072" y="1856232"/>
            <a:ext cx="7991856" cy="4389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A newcomer must also decide what to say, pronounce it and complete a task while the other person waits.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7200" y="2487168"/>
            <a:ext cx="8229600" cy="96012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6072" y="2578608"/>
            <a:ext cx="799185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The solution: replies that fit the person and the moment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6072" y="2971800"/>
            <a:ext cx="7991856" cy="4389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Combines the current turn, a pre-task plan, activities, preferences and nearby saved-place notes. Learner readbacks update context.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3602736"/>
            <a:ext cx="8229600" cy="100584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76072" y="3694176"/>
            <a:ext cx="799185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Users and customers across regions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6072" y="4087368"/>
            <a:ext cx="7991856" cy="48463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Interstate and international migrants. Customers: migrant associations, NGOs, universities, employers and relocation teams anywhere.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83879" y="4809744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F6368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List of features offered by the solution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57200" y="1371600"/>
            <a:ext cx="4023360" cy="722376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76072" y="1399032"/>
            <a:ext cx="3785616" cy="2286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Hear and respond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76072" y="1636776"/>
            <a:ext cx="3785616" cy="4389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02124"/>
                </a:solidFill>
                <a:latin typeface="Arial"/>
              </a:defRPr>
            </a:pPr>
            <a:r>
              <a:t>Live multilingual speech; three contextual replies.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663440" y="1371600"/>
            <a:ext cx="4023360" cy="722376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82312" y="1399032"/>
            <a:ext cx="3785616" cy="2286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Say it your way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82312" y="1636776"/>
            <a:ext cx="3785616" cy="4389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02124"/>
                </a:solidFill>
                <a:latin typeface="Arial"/>
              </a:defRPr>
            </a:pPr>
            <a:r>
              <a:t>Express familiar-language intent in the local language.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2194560"/>
            <a:ext cx="4023360" cy="722376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76072" y="2221991"/>
            <a:ext cx="3785616" cy="2286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Recognize learner readbacks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6072" y="2459736"/>
            <a:ext cx="3785616" cy="4389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02124"/>
                </a:solidFill>
                <a:latin typeface="Arial"/>
              </a:defRPr>
            </a:pPr>
            <a:r>
              <a:t>Forgiving repeat matching + session voice estimates.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663440" y="2194560"/>
            <a:ext cx="4023360" cy="722376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782312" y="2221991"/>
            <a:ext cx="3785616" cy="2286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Plan before leaving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82312" y="2459736"/>
            <a:ext cx="3785616" cy="4389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02124"/>
                </a:solidFill>
                <a:latin typeface="Arial"/>
              </a:defRPr>
            </a:pPr>
            <a:r>
              <a:t>Cab → optional tea → station; Done / Skip / Previous.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57200" y="3017520"/>
            <a:ext cx="4023360" cy="722376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76072" y="3044951"/>
            <a:ext cx="3785616" cy="2286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Location-linked memory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76072" y="3282696"/>
            <a:ext cx="3785616" cy="4389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02124"/>
                </a:solidFill>
                <a:latin typeface="Arial"/>
              </a:defRPr>
            </a:pPr>
            <a:r>
              <a:t>Opt-in place facts recalled on a fresh return nearby.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663440" y="3017520"/>
            <a:ext cx="4023360" cy="722376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82312" y="3044951"/>
            <a:ext cx="3785616" cy="2286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Personal memory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82312" y="3282696"/>
            <a:ext cx="3785616" cy="4389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02124"/>
                </a:solidFill>
                <a:latin typeface="Arial"/>
              </a:defRPr>
            </a:pPr>
            <a:r>
              <a:t>Editable activities and preferences; relevant retrieval.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57200" y="3840480"/>
            <a:ext cx="4023360" cy="722376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76072" y="3867912"/>
            <a:ext cx="3785616" cy="2286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Learn afterwards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6072" y="4105656"/>
            <a:ext cx="3785616" cy="4389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02124"/>
                </a:solidFill>
                <a:latin typeface="Arial"/>
              </a:defRPr>
            </a:pPr>
            <a:r>
              <a:t>Saved exchanges; word bubbles and pronunciation.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663440" y="3840480"/>
            <a:ext cx="4023360" cy="722376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82312" y="3867912"/>
            <a:ext cx="3785616" cy="2286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Simple, guarded access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82312" y="4105656"/>
            <a:ext cx="3785616" cy="4389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02124"/>
                </a:solidFill>
                <a:latin typeface="Arial"/>
              </a:defRPr>
            </a:pPr>
            <a:r>
              <a:t>One large microphone control; Google sign-in; quotas.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83879" y="4809744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F6368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Process flow diagram or Use-case diagram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57200" y="1417320"/>
            <a:ext cx="2377440" cy="118872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76072" y="1508760"/>
            <a:ext cx="213969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1. Plan + listen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6072" y="1901952"/>
            <a:ext cx="2139696" cy="6675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Optional goal; one large microphone button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383280" y="1417320"/>
            <a:ext cx="2377440" cy="118872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502152" y="1508760"/>
            <a:ext cx="213969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2. Understand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502152" y="1901952"/>
            <a:ext cx="2139696" cy="6675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Live Transcribe produces committed speech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09360" y="1417320"/>
            <a:ext cx="2377440" cy="118872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28232" y="1508760"/>
            <a:ext cx="213969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3. Route the turn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28232" y="1901952"/>
            <a:ext cx="2139696" cy="6675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Readback matching + recent voice clues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880360" y="1719072"/>
            <a:ext cx="411480" cy="4572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A73E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806440" y="1719072"/>
            <a:ext cx="411480" cy="4572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A73E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57200" y="2926080"/>
            <a:ext cx="3977639" cy="132588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76072" y="3017520"/>
            <a:ext cx="373989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Learner repeats a suggested reply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6072" y="3410712"/>
            <a:ext cx="3739896" cy="80467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Keep the actual spoken words in context and preserve the options. Continue listening for the other person.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709160" y="2926080"/>
            <a:ext cx="3977639" cy="132588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28032" y="3017520"/>
            <a:ext cx="373989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A new turn needs assistance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828032" y="3410712"/>
            <a:ext cx="3739896" cy="80467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Parallel Flash-Lite tasks → meaning + three replies → learner speaks → Saved review afterwards.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2920" y="4443984"/>
            <a:ext cx="8138160" cy="27432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368"/>
                </a:solidFill>
                <a:latin typeface="Arial"/>
              </a:defRPr>
            </a:pPr>
            <a:r>
              <a:t>The learner can correct who spoke. Goals, plan progress and relevant place memories follow the conversation.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183879" y="4809744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F6368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Wireframes/Mock diagrams of the proposed solution (optional)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183879" y="4809744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F6368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Architecture diagram of the proposed solution</a:t>
            </a:r>
          </a:p>
        </p:txBody>
      </p:sp>
      <p:pic>
        <p:nvPicPr>
          <p:cNvPr id="112" name="Picture 111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80160"/>
            <a:ext cx="8229600" cy="348615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8183879" y="4809744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F6368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Technologies to be used in the solution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57200" y="1417320"/>
            <a:ext cx="8229600" cy="694944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76072" y="1444752"/>
            <a:ext cx="7991856" cy="2286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Live speech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6072" y="1682496"/>
            <a:ext cx="7991856" cy="4114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02124"/>
                </a:solidFill>
                <a:latin typeface="Arial"/>
              </a:defRPr>
            </a:pPr>
            <a:r>
              <a:t>Gemini 3.5 Transcribe Live streams multilingual audio while the person speaks.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57200" y="2203704"/>
            <a:ext cx="8229600" cy="694944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76072" y="2231136"/>
            <a:ext cx="7991856" cy="2286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Fast, economical replies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76072" y="2468880"/>
            <a:ext cx="7991856" cy="4114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02124"/>
                </a:solidFill>
                <a:latin typeface="Arial"/>
              </a:defRPr>
            </a:pPr>
            <a:r>
              <a:t>Two concurrent Gemini 3.1 Flash-Lite tasks: source understanding and reply generation; compact JSON.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57200" y="2990088"/>
            <a:ext cx="8229600" cy="694944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76072" y="3017520"/>
            <a:ext cx="7991856" cy="2286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Google Cloud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6072" y="3255264"/>
            <a:ext cx="7991856" cy="4114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02124"/>
                </a:solidFill>
                <a:latin typeface="Arial"/>
              </a:defRPr>
            </a:pPr>
            <a:r>
              <a:t>Cloud Run + Vertex AI; Firebase Google sign-in; private Cloud Storage quotas; Secret Manager.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57200" y="3776472"/>
            <a:ext cx="8229600" cy="694944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76072" y="3803904"/>
            <a:ext cx="7991856" cy="2286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Local personalization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76072" y="4041648"/>
            <a:ext cx="7991856" cy="4114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202124"/>
                </a:solidFill>
                <a:latin typeface="Arial"/>
              </a:defRPr>
            </a:pPr>
            <a:r>
              <a:t>IndexedDB lessons; editable learner profiles, task plans and guarded location-linked memory.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183879" y="4809744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F6368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Estimated implementation cost (optional)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57200" y="1371600"/>
            <a:ext cx="3977639" cy="105156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76072" y="1463040"/>
            <a:ext cx="373989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~US$5 / learner / month · ₹450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76072" y="1856232"/>
            <a:ext cx="3739896" cy="53035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200 listening minutes + 400 new reply turns per month.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709160" y="1371600"/>
            <a:ext cx="3977639" cy="105156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828032" y="1463040"/>
            <a:ext cx="373989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100 learners · ~US$465 / month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828032" y="1856232"/>
            <a:ext cx="3739896" cy="53035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Shared community estimate, including contingency.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02920" y="2606040"/>
            <a:ext cx="8138160" cy="521207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02124"/>
                </a:solidFill>
                <a:latin typeface="Arial"/>
              </a:defRPr>
            </a:pPr>
            <a:r>
              <a:t>Per learner: speech $1.79 + generation $1.76 + shared infrastructure $0.30. Add 20% contingency, then round the budget to US$5.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2920" y="3291840"/>
            <a:ext cx="8138160" cy="66751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02124"/>
                </a:solidFill>
                <a:latin typeface="Arial"/>
              </a:defRPr>
            </a:pPr>
            <a:r>
              <a:t>Usage estimate: 10 minutes and 20 new reply turns per day, on 20 days per month; hosting shared across 100 active learners. Each turn uses two parallel calls.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2920" y="4087368"/>
            <a:ext cx="8138160" cy="60350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368"/>
                </a:solidFill>
                <a:latin typeface="Arial"/>
              </a:defRPr>
            </a:pPr>
            <a:r>
              <a:t>Rate basis: Live Transcribe $0.008925/min; Flash-Lite $0.25/M input and $1.50/M output. Standard global rates checked 18 Oct 2026; before tax and credits. INR planning rate: ₹90/US$. Detailed assumptions: technical PDF.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183879" y="4809744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F6368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Snapshots of the prototype</a:t>
            </a:r>
          </a:p>
        </p:txBody>
      </p:sp>
      <p:pic>
        <p:nvPicPr>
          <p:cNvPr id="136" name="Picture 135" descr="web-plans-cloud.png.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1417320"/>
            <a:ext cx="1454618" cy="283464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457200" y="4261104"/>
            <a:ext cx="2560320" cy="310896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Plan before leaving</a:t>
            </a:r>
          </a:p>
        </p:txBody>
      </p:sp>
      <p:pic>
        <p:nvPicPr>
          <p:cNvPr id="138" name="Picture 137" descr="web-express-cloud.png.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1417320"/>
            <a:ext cx="1454618" cy="283464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3337560" y="4261104"/>
            <a:ext cx="2560320" cy="310896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Find a useful reply</a:t>
            </a:r>
          </a:p>
        </p:txBody>
      </p:sp>
      <p:pic>
        <p:nvPicPr>
          <p:cNvPr id="140" name="Picture 139" descr="web-replies-review.png.cr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79" y="1417320"/>
            <a:ext cx="1454618" cy="283464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6217920" y="4261104"/>
            <a:ext cx="2560320" cy="310896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Learn afterwards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02920" y="4617720"/>
            <a:ext cx="8138160" cy="2286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F6368"/>
                </a:solidFill>
                <a:latin typeface="Arial"/>
              </a:defRPr>
            </a:pPr>
            <a:r>
              <a:t>Recorded prototype UI; Saved view uses sample lesson data. The demonstration includes real Google AI responses.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183879" y="4809744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F6368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Prototype Performance report/Benchmarking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02920" y="1371600"/>
            <a:ext cx="8046720" cy="475488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202124"/>
                </a:solidFill>
                <a:latin typeface="Arial"/>
              </a:defRPr>
            </a:pPr>
            <a:r>
              <a:t>Designed for an approximately two-second warm lesson.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2920" y="2011680"/>
            <a:ext cx="2743200" cy="42062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1.79 s mean · 10 lessons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310128" y="2011680"/>
            <a:ext cx="5349240" cy="42062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02124"/>
                </a:solidFill>
                <a:latin typeface="Arial"/>
              </a:defRPr>
            </a:pPr>
            <a:r>
              <a:t>Recorded v1.5 warm hosted run; all complete responses succeeded.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2920" y="2478024"/>
            <a:ext cx="2743200" cy="42062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2.065 s mean · 4 cases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10128" y="2478024"/>
            <a:ext cx="5349240" cy="42062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02124"/>
                </a:solidFill>
                <a:latin typeface="Arial"/>
              </a:defRPr>
            </a:pPr>
            <a:r>
              <a:t>Later v1.9 Kannada task flows: cab, tea, café and station.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02920" y="2944368"/>
            <a:ext cx="2743200" cy="42062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Parallel critical path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310128" y="2944368"/>
            <a:ext cx="5349240" cy="42062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02124"/>
                </a:solidFill>
                <a:latin typeface="Arial"/>
              </a:defRPr>
            </a:pPr>
            <a:r>
              <a:t>Source understanding and replies run together; compact output and warm HTTP.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2920" y="3410712"/>
            <a:ext cx="2743200" cy="42062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Local reuse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10128" y="3410712"/>
            <a:ext cx="5349240" cy="42062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02124"/>
                </a:solidFill>
                <a:latin typeface="Arial"/>
              </a:defRPr>
            </a:pPr>
            <a:r>
              <a:t>Readbacks preserve replies; word taps and saved review reuse lesson data.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02920" y="3877056"/>
            <a:ext cx="2743200" cy="42062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A73E8"/>
                </a:solidFill>
                <a:latin typeface="Arial"/>
              </a:defRPr>
            </a:pPr>
            <a:r>
              <a:t>Memory and access checks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310128" y="3877056"/>
            <a:ext cx="5349240" cy="42062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02124"/>
                </a:solidFill>
                <a:latin typeface="Arial"/>
              </a:defRPr>
            </a:pPr>
            <a:r>
              <a:t>134 backend tests; 16 place-core checks and 8 place browser flows.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02920" y="4553712"/>
            <a:ext cx="8138160" cy="27432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368"/>
                </a:solidFill>
                <a:latin typeface="Arial"/>
              </a:defRPr>
            </a:pPr>
            <a:r>
              <a:t>Timings measure warm lesson requests; speech also includes transcription finalization and device/network time.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183879" y="4809744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F6368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Additional Details/Future Development (if any)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57200" y="1417320"/>
            <a:ext cx="3977639" cy="269748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76072" y="1508760"/>
            <a:ext cx="373989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Adoption and business estimates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76072" y="1901952"/>
            <a:ext cx="3739896" cy="217627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20 partners × 100 learners = 2,000 learners.</a:t>
            </a:r>
          </a:p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Community-sponsored usage packages.</a:t>
            </a:r>
          </a:p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Estimated operating budget: ~US$5 / active learner / month in a 100-member community.</a:t>
            </a:r>
          </a:p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Partners: migrant groups, NGOs, campuses and employers globally.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709160" y="1417320"/>
            <a:ext cx="3977639" cy="2697480"/>
          </a:xfrm>
          <a:prstGeom prst="roundRect">
            <a:avLst/>
          </a:prstGeom>
          <a:solidFill>
            <a:srgbClr val="F1F6FD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828032" y="1508760"/>
            <a:ext cx="3739896" cy="329184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A73E8"/>
                </a:solidFill>
                <a:latin typeface="Arial"/>
              </a:defRPr>
            </a:pPr>
            <a:r>
              <a:t>Pilot targets and next delivery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828032" y="1901952"/>
            <a:ext cx="3739896" cy="2176272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Four weeks, 50 learners: ~1,600 encounters and 8,000 assisted turns.</a:t>
            </a:r>
          </a:p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Targets: 70% useful reply sets; 80% task completion.</a:t>
            </a:r>
          </a:p>
          <a:p>
            <a:pPr>
              <a:spcAft>
                <a:spcPts val="700"/>
              </a:spcAft>
              <a:defRPr sz="1300" b="0">
                <a:solidFill>
                  <a:srgbClr val="202124"/>
                </a:solidFill>
                <a:latin typeface="Arial"/>
              </a:defRPr>
            </a:pPr>
            <a:r>
              <a:t>Next: more language pairs, partner allowances and opt-in local voice enrollment.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02920" y="4407408"/>
            <a:ext cx="8138160" cy="384048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368"/>
                </a:solidFill>
                <a:latin typeface="Arial"/>
              </a:defRPr>
            </a:pPr>
            <a:r>
              <a:t>Adoption, pilot outcomes and unit economics are planning estimates/targets; assumptions and scale scenario are in the technical PDF.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183879" y="4809744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F6368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800" b="1">
                <a:solidFill>
                  <a:srgbClr val="202124"/>
                </a:solidFill>
                <a:latin typeface="Arial"/>
              </a:defRPr>
            </a:pPr>
            <a:r>
              <a:t>Provide links to your: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2920" y="1463040"/>
            <a:ext cx="8046720" cy="4572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A73E8"/>
                </a:solidFill>
                <a:latin typeface="Arial"/>
              </a:defRPr>
            </a:pPr>
            <a:r>
              <a:rPr>
                <a:hlinkClick r:id="rId5"/>
              </a:rPr>
              <a:t>GitHub source — github.com/U4AR/LingoLive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02920" y="2148840"/>
            <a:ext cx="8046720" cy="4572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A73E8"/>
                </a:solidFill>
                <a:latin typeface="Arial"/>
              </a:defRPr>
            </a:pPr>
            <a:r>
              <a:rPr>
                <a:hlinkClick r:id="rId6"/>
              </a:rPr>
              <a:t>Demo video — 3:17 working demonstration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02920" y="2834640"/>
            <a:ext cx="8046720" cy="4572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A73E8"/>
                </a:solidFill>
                <a:latin typeface="Arial"/>
              </a:defRPr>
            </a:pPr>
            <a:r>
              <a:rPr>
                <a:hlinkClick r:id="rId7"/>
              </a:rPr>
              <a:t>Final product — live Google Cloud Run prototype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02920" y="3520440"/>
            <a:ext cx="8046720" cy="45720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A73E8"/>
                </a:solidFill>
                <a:latin typeface="Arial"/>
              </a:defRPr>
            </a:pPr>
            <a:r>
              <a:rPr>
                <a:hlinkClick r:id="rId8"/>
              </a:rPr>
              <a:t>Submission materials — pitch, technical PDF and entry text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02920" y="4206240"/>
            <a:ext cx="8138160" cy="54864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F6368"/>
                </a:solidFill>
                <a:latin typeface="Arial"/>
              </a:defRPr>
            </a:pPr>
            <a:r>
              <a:t>Sign in with any verified Google account. A personal Google model key is optional.</a:t>
            </a:r>
          </a:p>
          <a:p>
            <a:pPr>
              <a:spcAft>
                <a:spcPts val="700"/>
              </a:spcAft>
              <a:defRPr sz="1100" b="0">
                <a:solidFill>
                  <a:srgbClr val="5F6368"/>
                </a:solidFill>
                <a:latin typeface="Arial"/>
              </a:defRPr>
            </a:pPr>
            <a:r>
              <a:t>Shared daily demo allowance: 20 listening minutes and 100 two-branch lessons; midnight IST reset.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183879" y="4809744"/>
            <a:ext cx="457200" cy="182880"/>
          </a:xfrm>
          <a:prstGeom prst="rect">
            <a:avLst/>
          </a:prstGeom>
          <a:noFill/>
        </p:spPr>
        <p:txBody>
          <a:bodyPr wrap="square" lIns="54864" rIns="54864" tIns="27432" bIns="0">
            <a:spAutoFit/>
          </a:bodyPr>
          <a:lstStyle/>
          <a:p>
            <a:pPr algn="r">
              <a:spcAft>
                <a:spcPts val="700"/>
              </a:spcAft>
              <a:defRPr sz="800" b="0">
                <a:solidFill>
                  <a:srgbClr val="5F6368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