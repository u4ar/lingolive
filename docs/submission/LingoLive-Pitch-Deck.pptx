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github.com/U4AR/LingoLive" TargetMode="External"/><Relationship Id="rId6" Type="http://schemas.openxmlformats.org/officeDocument/2006/relationships/hyperlink" Target="https://storage.googleapis.com/lingolive-demo-358650584819/ai-builder-cup-2026/submission-2026-10-18/LingoLive-Demo.mp4" TargetMode="External"/><Relationship Id="rId7" Type="http://schemas.openxmlformats.org/officeDocument/2006/relationships/hyperlink" Target="https://lingolive-358650584819.us-central1.run.app" TargetMode="External"/><Relationship Id="rId8" Type="http://schemas.openxmlformats.org/officeDocument/2006/relationships/hyperlink" Target="https://storage.googleapis.com/lingolive-demo-358650584819/ai-builder-cup-2026/submission-2026-10-18/index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spcAft>
                <a:spcPts val="500"/>
              </a:spcAft>
              <a:defRPr sz="1800" b="1">
                <a:latin typeface="Arial"/>
              </a:defRPr>
            </a:pPr>
            <a:r>
              <a:t>Team Details</a:t>
            </a:r>
          </a:p>
          <a:p>
            <a:pPr>
              <a:spcAft>
                <a:spcPts val="500"/>
              </a:spcAft>
              <a:defRPr sz="1300" b="0">
                <a:latin typeface="Arial"/>
              </a:defRPr>
            </a:pPr>
            <a:r>
              <a:t>Project: LingoLive — Understand. Reply. Keep going.</a:t>
            </a:r>
          </a:p>
          <a:p>
            <a:pPr>
              <a:spcAft>
                <a:spcPts val="500"/>
              </a:spcAft>
              <a:defRPr sz="1300" b="0">
                <a:latin typeface="Arial"/>
              </a:defRPr>
            </a:pPr>
            <a:r>
              <a:t>Team name: CreativeEngine</a:t>
            </a:r>
          </a:p>
          <a:p>
            <a:pPr>
              <a:spcAft>
                <a:spcPts val="500"/>
              </a:spcAft>
              <a:defRPr sz="1300" b="0">
                <a:latin typeface="Arial"/>
              </a:defRPr>
            </a:pPr>
            <a:r>
              <a:t>Team leader: Ashish T. Vasant | Member: Janhvi Singh</a:t>
            </a:r>
          </a:p>
          <a:p>
            <a:pPr>
              <a:spcAft>
                <a:spcPts val="500"/>
              </a:spcAft>
              <a:defRPr sz="1300" b="0">
                <a:latin typeface="Arial"/>
              </a:defRPr>
            </a:pPr>
            <a:r>
              <a:t>Problem: Help immigrants and interstate newcomers respond in an unfamiliar language.</a:t>
            </a:r>
          </a:p>
          <a:p>
            <a:pPr>
              <a:spcAft>
                <a:spcPts val="500"/>
              </a:spcAft>
              <a:defRPr sz="1300" b="0">
                <a:latin typeface="Arial"/>
              </a:defRPr>
            </a:pPr>
            <a:r>
              <a:t>Theme: Media, Content &amp; Digital Experiences | Category: Education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Brief about the idea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1389888"/>
            <a:ext cx="8138160" cy="6400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202124"/>
                </a:solidFill>
                <a:latin typeface="Arial"/>
              </a:defRPr>
            </a:pPr>
            <a:r>
              <a:t>Find your words in a new city.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7200" y="2157984"/>
            <a:ext cx="8138160" cy="768096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202124"/>
                </a:solidFill>
                <a:latin typeface="Arial"/>
              </a:defRPr>
            </a:pPr>
            <a:r>
              <a:t>A newcomer in Bengaluru needs to answer a cab driver in Kannada. LingoLive helps them understand, choose a reply and say it aloud.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" y="3246120"/>
            <a:ext cx="2514600" cy="114300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1792" y="3337560"/>
            <a:ext cx="227685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Understand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" y="3730752"/>
            <a:ext cx="2276856" cy="62179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Live multilingual speech → meaning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337560" y="3246120"/>
            <a:ext cx="2514600" cy="114300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456432" y="3337560"/>
            <a:ext cx="227685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Reply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456432" y="3730752"/>
            <a:ext cx="2276856" cy="62179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Useful options + pronunciation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172200" y="3246120"/>
            <a:ext cx="2514600" cy="114300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91072" y="3337560"/>
            <a:ext cx="227685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Learn later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91072" y="3730752"/>
            <a:ext cx="2276856" cy="62179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Saved words and personal practice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Opportunities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57200" y="1417320"/>
            <a:ext cx="8229600" cy="91440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76072" y="1508760"/>
            <a:ext cx="799185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How is it different?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76072" y="1901952"/>
            <a:ext cx="7991856" cy="39319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Connects the next turn, a pre-task plan, relevant personal/place memory, and later learning in one small interface.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57200" y="2487168"/>
            <a:ext cx="8229600" cy="91440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76072" y="2578608"/>
            <a:ext cx="799185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How does it solve the problem?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6072" y="2971800"/>
            <a:ext cx="7991856" cy="39319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Prioritizes usable replies during the encounter; the learner reviews word meanings afterwards. Repeated replies do not become new questions.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57200" y="3557016"/>
            <a:ext cx="8229600" cy="96012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6072" y="3648456"/>
            <a:ext cx="799185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USP and intended users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76072" y="4041648"/>
            <a:ext cx="7991856" cy="4389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Local, editable context follows the learner. Initial pilots: relocation teams, universities and community language groups. Outcomes and demand are not yet measured.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List of features offered by the solution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57200" y="1371600"/>
            <a:ext cx="4023360" cy="722376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76072" y="1399032"/>
            <a:ext cx="378561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Hear and respond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76072" y="1636776"/>
            <a:ext cx="3785616" cy="4389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Google multilingual transcription; three short replies.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663440" y="1371600"/>
            <a:ext cx="4023360" cy="722376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782312" y="1399032"/>
            <a:ext cx="378561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Say it your way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82312" y="1636776"/>
            <a:ext cx="3785616" cy="4389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Express familiar-language intent in the learning language.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57200" y="2194560"/>
            <a:ext cx="4023360" cy="722376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76072" y="2221991"/>
            <a:ext cx="378561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Recognize readbacks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76072" y="2459736"/>
            <a:ext cx="3785616" cy="4389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Fuzzy repeat guards + session voice estimates; correction.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663440" y="2194560"/>
            <a:ext cx="4023360" cy="722376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782312" y="2221991"/>
            <a:ext cx="378561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Plan before leaving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782312" y="2459736"/>
            <a:ext cx="3785616" cy="4389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Cab → optional tea → station; explicit progress controls.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57200" y="3017520"/>
            <a:ext cx="4023360" cy="722376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6072" y="3044951"/>
            <a:ext cx="378561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Relevant memory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76072" y="3282696"/>
            <a:ext cx="3785616" cy="4389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Editable routines; opt-in saved-place notes on return.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663440" y="3017520"/>
            <a:ext cx="4023360" cy="722376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782312" y="3044951"/>
            <a:ext cx="378561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Learn afterwards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782312" y="3282696"/>
            <a:ext cx="3785616" cy="4389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Saved review, word bubbles and pronunciation.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57200" y="3840480"/>
            <a:ext cx="4023360" cy="722376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6072" y="3867912"/>
            <a:ext cx="378561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Minimal interface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76072" y="4105656"/>
            <a:ext cx="3785616" cy="4389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One large microphone control; typing and first-use tutorial.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663440" y="3840480"/>
            <a:ext cx="4023360" cy="722376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82312" y="3867912"/>
            <a:ext cx="378561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Bounded access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782312" y="4105656"/>
            <a:ext cx="3785616" cy="4389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Private host code or your own Google key; usage guards.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Process flow diagram or Use-case diagram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57200" y="1417320"/>
            <a:ext cx="2377440" cy="114300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6072" y="1508760"/>
            <a:ext cx="213969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1. Listen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76072" y="1901952"/>
            <a:ext cx="2139696" cy="62179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16 kHz browser microphone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383280" y="1417320"/>
            <a:ext cx="2377440" cy="114300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502152" y="1508760"/>
            <a:ext cx="213969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2. Transcribe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502152" y="1901952"/>
            <a:ext cx="2139696" cy="62179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Gemini Transcribe Live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309360" y="1417320"/>
            <a:ext cx="2377440" cy="114300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428232" y="1508760"/>
            <a:ext cx="213969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3. Route the turn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428232" y="1901952"/>
            <a:ext cx="2139696" cy="62179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Text/voice repeat estimates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880360" y="1719072"/>
            <a:ext cx="411480" cy="4572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1A73E8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806440" y="1719072"/>
            <a:ext cx="411480" cy="4572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1A73E8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57200" y="2926080"/>
            <a:ext cx="3977639" cy="123444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76072" y="3017520"/>
            <a:ext cx="373989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Your repeated words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76072" y="3410712"/>
            <a:ext cx="3739896" cy="71323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Keep in local conversation context. Wait for the other speaker. Uncertain meaning → confirm the speaker.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709160" y="2926080"/>
            <a:ext cx="3977639" cy="123444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828032" y="3017520"/>
            <a:ext cx="373989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Other / unknown turn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828032" y="3410712"/>
            <a:ext cx="3739896" cy="71323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Two Flash-Lite branches → meaning + replies → learner speaks → Saved learning later.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02920" y="4407408"/>
            <a:ext cx="8138160" cy="32004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F6368"/>
                </a:solidFill>
                <a:latin typeface="Arial"/>
              </a:defRPr>
            </a:pPr>
            <a:r>
              <a:t>Speaker estimates help routing; they are not reliable identity. Explicit correction always wins.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Wireframes/Mock diagrams of the proposed solution (optional)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57200" y="1508760"/>
            <a:ext cx="2468880" cy="256032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76072" y="1600200"/>
            <a:ext cx="223113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Conversation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6072" y="1993391"/>
            <a:ext cx="2231136" cy="20391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Heard words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Meaning in your language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Three usable replies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Original / Pronunciation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Large listen button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3337560" y="1508760"/>
            <a:ext cx="2468880" cy="256032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456432" y="1600200"/>
            <a:ext cx="223113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Before the task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56432" y="1993391"/>
            <a:ext cx="2231136" cy="20391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Where do you want to go?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Optional stops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Learner-controlled progress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Relevant local memories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217920" y="1508760"/>
            <a:ext cx="2468880" cy="256032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36792" y="1600200"/>
            <a:ext cx="223113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Saved learning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336792" y="1993391"/>
            <a:ext cx="2231136" cy="20391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Your conversation library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Tap a word → meaning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Pronunciation and practice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No new lesson request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02920" y="4389120"/>
            <a:ext cx="8046720" cy="27432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Functional prototype screens are shown in the snapshots section and video.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Architecture diagram of the proposed solution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57200" y="1463040"/>
            <a:ext cx="2423160" cy="256032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76072" y="1554480"/>
            <a:ext cx="2185415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Browser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76072" y="1947672"/>
            <a:ext cx="2185415" cy="20391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AudioWorklet capture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Local repeat / voice guard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Conversation + plan context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IndexedDB saved lessons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Local, opt-in place memory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337560" y="1463040"/>
            <a:ext cx="2423160" cy="256032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456432" y="1554480"/>
            <a:ext cx="2185415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Google Cloud Run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56432" y="1947672"/>
            <a:ext cx="2185415" cy="20391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FastAPI HTTP + WebSocket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Host code / personal-key session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Request + audio quotas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Exact-source validation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Secret Manager access code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217920" y="1463040"/>
            <a:ext cx="2423160" cy="256032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36792" y="1554480"/>
            <a:ext cx="2185415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Google AI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336792" y="1947672"/>
            <a:ext cx="2185415" cy="203911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Gemini 3.5 Transcribe Live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Gemini 3.1 Flash-Lite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Source and reply branches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Vertex service account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BYOK: Gemini Developer API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907792" y="2286000"/>
            <a:ext cx="365760" cy="4572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1A73E8"/>
                </a:solidFill>
                <a:latin typeface="Arial"/>
              </a:defRPr>
            </a:pPr>
            <a:r>
              <a:t>⇄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779008" y="2286000"/>
            <a:ext cx="365760" cy="4572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1A73E8"/>
                </a:solidFill>
                <a:latin typeface="Arial"/>
              </a:defRPr>
            </a:pPr>
            <a:r>
              <a:t>⇄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Firebase / Firestore are not used in this prototype. Any future cloud sync would require a separate opt-in design.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Technologies to be used in the solution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57200" y="1417320"/>
            <a:ext cx="8229600" cy="694944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76072" y="1444752"/>
            <a:ext cx="799185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Google AI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76072" y="1682496"/>
            <a:ext cx="7991856" cy="4114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Gemini 3.5 Transcribe Live; two parallel Gemini 3.1 Flash-Lite branches with minimal thinking.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57200" y="2203704"/>
            <a:ext cx="8229600" cy="694944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76072" y="2231136"/>
            <a:ext cx="799185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Google Cloud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76072" y="2468880"/>
            <a:ext cx="7991856" cy="4114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Cloud Run, Vertex AI, Secret Manager, Cloud Build and Artifact Registry.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57200" y="2990088"/>
            <a:ext cx="8229600" cy="694944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6072" y="3017520"/>
            <a:ext cx="799185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Web and backend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6072" y="3255264"/>
            <a:ext cx="7991856" cy="4114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Responsive JavaScript PWA, AudioWorklet, IndexedDB, Python FastAPI and WebSockets.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57200" y="3776472"/>
            <a:ext cx="8229600" cy="694944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76072" y="3803904"/>
            <a:ext cx="7991856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Local adaptation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6072" y="4041648"/>
            <a:ext cx="7991856" cy="4114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202124"/>
                </a:solidFill>
                <a:latin typeface="Arial"/>
              </a:defRPr>
            </a:pPr>
            <a:r>
              <a:t>Bounded context and lexical/acoustic heuristics; no model-weight fine-tuning or stored voiceprint.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Estimated implementation cost (optional)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0" y="1417320"/>
            <a:ext cx="8046720" cy="4572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202124"/>
                </a:solidFill>
                <a:latin typeface="Arial"/>
              </a:defRPr>
            </a:pPr>
            <a:r>
              <a:t>Cost model: pay for useful turns, bound prototype usage.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02920" y="2039112"/>
            <a:ext cx="8046720" cy="237744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202124"/>
                </a:solidFill>
                <a:latin typeface="Arial"/>
              </a:defRPr>
            </a:pPr>
            <a:r>
              <a:t>• A 15-minute listening session uses up to 15 minutes of streaming audio.</a:t>
            </a:r>
          </a:p>
          <a:p>
            <a:pPr>
              <a:spcAft>
                <a:spcPts val="700"/>
              </a:spcAft>
              <a:defRPr sz="1500" b="0">
                <a:solidFill>
                  <a:srgbClr val="202124"/>
                </a:solidFill>
                <a:latin typeface="Arial"/>
              </a:defRPr>
            </a:pPr>
            <a:r>
              <a:t>• N new lessons use 2 × N Flash-Lite generation calls.</a:t>
            </a:r>
          </a:p>
          <a:p>
            <a:pPr>
              <a:spcAft>
                <a:spcPts val="700"/>
              </a:spcAft>
              <a:defRPr sz="1500" b="0">
                <a:solidFill>
                  <a:srgbClr val="202124"/>
                </a:solidFill>
                <a:latin typeface="Arial"/>
              </a:defRPr>
            </a:pPr>
            <a:r>
              <a:t>• Detected repeats, saved word review and script switching add no lesson call.</a:t>
            </a:r>
          </a:p>
          <a:p>
            <a:pPr>
              <a:spcAft>
                <a:spcPts val="700"/>
              </a:spcAft>
              <a:defRPr sz="1500" b="0">
                <a:solidFill>
                  <a:srgbClr val="202124"/>
                </a:solidFill>
                <a:latin typeface="Arial"/>
              </a:defRPr>
            </a:pPr>
            <a:r>
              <a:t>• Cloud Run: 1 CPU / 512 MiB, request billing, min 0 / max 1 instance.</a:t>
            </a:r>
          </a:p>
          <a:p>
            <a:pPr>
              <a:spcAft>
                <a:spcPts val="700"/>
              </a:spcAft>
              <a:defRPr sz="1500" b="0">
                <a:solidFill>
                  <a:srgbClr val="202124"/>
                </a:solidFill>
                <a:latin typeface="Arial"/>
              </a:defRPr>
            </a:pPr>
            <a:r>
              <a:t>• Host limits: 400 raw model calls/day and 60 audio minutes/day.</a:t>
            </a:r>
          </a:p>
          <a:p>
            <a:pPr>
              <a:spcAft>
                <a:spcPts val="700"/>
              </a:spcAft>
              <a:defRPr sz="1500" b="0">
                <a:solidFill>
                  <a:srgbClr val="202124"/>
                </a:solidFill>
                <a:latin typeface="Arial"/>
              </a:defRPr>
            </a:pPr>
            <a:r>
              <a:t>• Prices depend on tokens, provider rates and actual runtime; no dollar estimate is asserted.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02920" y="4526280"/>
            <a:ext cx="8046720" cy="292608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F6368"/>
                </a:solidFill>
                <a:latin typeface="Arial"/>
              </a:defRPr>
            </a:pPr>
            <a:r>
              <a:t>Quotas are prototype safeguards, not a hard billing cap. A wider launch needs durable per-user budgets.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Snapshots of the prototype</a:t>
            </a:r>
          </a:p>
        </p:txBody>
      </p:sp>
      <p:pic>
        <p:nvPicPr>
          <p:cNvPr id="136" name="Picture 135" descr="web-plans-cloud.png.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1417320"/>
            <a:ext cx="1454618" cy="2834640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457200" y="4261104"/>
            <a:ext cx="2560320" cy="310896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Plan before leaving</a:t>
            </a:r>
          </a:p>
        </p:txBody>
      </p:sp>
      <p:pic>
        <p:nvPicPr>
          <p:cNvPr id="138" name="Picture 137" descr="web-express-cloud.png.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1920" y="1417320"/>
            <a:ext cx="1454618" cy="2834640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3337560" y="4261104"/>
            <a:ext cx="2560320" cy="310896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Find a useful reply</a:t>
            </a:r>
          </a:p>
        </p:txBody>
      </p:sp>
      <p:pic>
        <p:nvPicPr>
          <p:cNvPr id="140" name="Picture 139" descr="web-replies-review.png.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2279" y="1417320"/>
            <a:ext cx="1454618" cy="2834640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6217920" y="4261104"/>
            <a:ext cx="2560320" cy="310896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Learn afterwards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02920" y="4617720"/>
            <a:ext cx="8138160" cy="2286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5F6368"/>
                </a:solidFill>
                <a:latin typeface="Arial"/>
              </a:defRPr>
            </a:pPr>
            <a:r>
              <a:t>Recorded prototype views. Word-review screenshot uses labelled test data; the video includes real Google responses.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Prototype Performance report/Benchmarking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02920" y="1417320"/>
            <a:ext cx="8046720" cy="4572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202124"/>
                </a:solidFill>
                <a:latin typeface="Arial"/>
              </a:defRPr>
            </a:pPr>
            <a:r>
              <a:t>Functional evidence, with clear measurement limits.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02920" y="2011680"/>
            <a:ext cx="274320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Earlier v1.5 warm HTTP lessons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310128" y="2011680"/>
            <a:ext cx="534924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02124"/>
                </a:solidFill>
                <a:latin typeface="Arial"/>
              </a:defRPr>
            </a:pPr>
            <a:r>
              <a:t>10 complete lessons · mean 1.79 s · historical sample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02920" y="2478024"/>
            <a:ext cx="274320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Later v1.9 typed HTTP checks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310128" y="2478024"/>
            <a:ext cx="534924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02124"/>
                </a:solidFill>
                <a:latin typeface="Arial"/>
              </a:defRPr>
            </a:pPr>
            <a:r>
              <a:t>4 functional cases · mean 2.065 s · not a latency guarantee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02920" y="2944368"/>
            <a:ext cx="274320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Current readback guard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310128" y="2944368"/>
            <a:ext cx="534924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02124"/>
                </a:solidFill>
                <a:latin typeface="Arial"/>
              </a:defRPr>
            </a:pPr>
            <a:r>
              <a:t>25 local checks + 10 browser-flow checks; repeats add no lesson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02920" y="3410712"/>
            <a:ext cx="274320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Voice estimates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310128" y="3410712"/>
            <a:ext cx="534924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02124"/>
                </a:solidFill>
                <a:latin typeface="Arial"/>
              </a:defRPr>
            </a:pPr>
            <a:r>
              <a:t>3/4 held-out clean synthetic learner clips recognized; 0/4 others labelled user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02920" y="3877056"/>
            <a:ext cx="274320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A73E8"/>
                </a:solidFill>
                <a:latin typeface="Arial"/>
              </a:defRPr>
            </a:pPr>
            <a:r>
              <a:t>Service checks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310128" y="3877056"/>
            <a:ext cx="5349240" cy="42062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02124"/>
                </a:solidFill>
                <a:latin typeface="Arial"/>
              </a:defRPr>
            </a:pPr>
            <a:r>
              <a:t>112 backend tests; real Google replies and current Cloud Run guards verified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F6368"/>
                </a:solidFill>
                <a:latin typeface="Arial"/>
              </a:defRPr>
            </a:pPr>
            <a:r>
              <a:t>No measured learning-outcome, noisy-phone, cold-start or population speaker-accuracy claim.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Additional Details/Future Development (if any)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57200" y="1463040"/>
            <a:ext cx="3977639" cy="269748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576072" y="1554480"/>
            <a:ext cx="373989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Social value and business case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76072" y="1947672"/>
            <a:ext cx="3739896" cy="217627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Help newcomers participate in everyday encounters.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Pilot with relocation teams, universities and community language groups.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Proposed organization-sponsored access; validate demand before expansion.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709160" y="1463040"/>
            <a:ext cx="3977639" cy="2697480"/>
          </a:xfrm>
          <a:prstGeom prst="roundRect">
            <a:avLst/>
          </a:prstGeom>
          <a:solidFill>
            <a:srgbClr val="F1F6FD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4828032" y="1554480"/>
            <a:ext cx="3739896" cy="329184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A73E8"/>
                </a:solidFill>
                <a:latin typeface="Arial"/>
              </a:defRPr>
            </a:pPr>
            <a:r>
              <a:t>Next engineering work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828032" y="1947672"/>
            <a:ext cx="3739896" cy="2176272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Representative mobile/noisy-language studies.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Durable per-user budgets and stronger identity.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Opt-in cross-device memory, potentially Firestore.</a:t>
            </a:r>
          </a:p>
          <a:p>
            <a:pPr>
              <a:spcAft>
                <a:spcPts val="700"/>
              </a:spcAft>
              <a:defRPr sz="1300" b="0">
                <a:solidFill>
                  <a:srgbClr val="202124"/>
                </a:solidFill>
                <a:latin typeface="Arial"/>
              </a:defRPr>
            </a:pPr>
            <a:r>
              <a:t>Measure task completion, reply usefulness and learning retention.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502920" y="4462272"/>
            <a:ext cx="8138160" cy="32004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F6368"/>
                </a:solidFill>
                <a:latin typeface="Arial"/>
              </a:defRPr>
            </a:pPr>
            <a:r>
              <a:t>Current limits: ASR can mishear; voice estimates can be wrong; local profiles are not private cloud accounts.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Provide links to your: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02920" y="1463040"/>
            <a:ext cx="8046720" cy="4572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1A73E8"/>
                </a:solidFill>
                <a:latin typeface="Arial"/>
              </a:defRPr>
            </a:pPr>
            <a:r>
              <a:rPr>
                <a:hlinkClick r:id="rId5"/>
              </a:rPr>
              <a:t>GitHub source — github.com/U4AR/LingoLive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02920" y="2148840"/>
            <a:ext cx="8046720" cy="4572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1A73E8"/>
                </a:solidFill>
                <a:latin typeface="Arial"/>
              </a:defRPr>
            </a:pPr>
            <a:r>
              <a:rPr>
                <a:hlinkClick r:id="rId6"/>
              </a:rPr>
              <a:t>Demo video — 3–4 minute working demonstration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02920" y="2834640"/>
            <a:ext cx="8046720" cy="4572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1A73E8"/>
                </a:solidFill>
                <a:latin typeface="Arial"/>
              </a:defRPr>
            </a:pPr>
            <a:r>
              <a:rPr>
                <a:hlinkClick r:id="rId7"/>
              </a:rPr>
              <a:t>Final product — live Google Cloud Run prototype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02920" y="3520440"/>
            <a:ext cx="8046720" cy="45720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1A73E8"/>
                </a:solidFill>
                <a:latin typeface="Arial"/>
              </a:defRPr>
            </a:pPr>
            <a:r>
              <a:rPr>
                <a:hlinkClick r:id="rId8"/>
              </a:rPr>
              <a:t>Submission materials — pitch, technical PDF and entry text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502920" y="4206240"/>
            <a:ext cx="8138160" cy="54864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5F6368"/>
                </a:solidFill>
                <a:latin typeface="Arial"/>
              </a:defRPr>
            </a:pPr>
            <a:r>
              <a:t>Keep the source repository publicly accessible throughout evaluation.</a:t>
            </a:r>
          </a:p>
          <a:p>
            <a:pPr>
              <a:spcAft>
                <a:spcPts val="700"/>
              </a:spcAft>
              <a:defRPr sz="1100" b="0">
                <a:solidFill>
                  <a:srgbClr val="5F6368"/>
                </a:solidFill>
                <a:latin typeface="Arial"/>
              </a:defRPr>
            </a:pPr>
            <a:r>
              <a:t>AI access: use your Google key, or obtain the host code privately from the team. No keys or codes are included.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183879" y="4809744"/>
            <a:ext cx="457200" cy="182880"/>
          </a:xfrm>
          <a:prstGeom prst="rect">
            <a:avLst/>
          </a:prstGeom>
          <a:noFill/>
        </p:spPr>
        <p:txBody>
          <a:bodyPr wrap="square" lIns="54864" rIns="54864" tIns="27432" bIns="0">
            <a:spAutoFit/>
          </a:bodyPr>
          <a:lstStyle/>
          <a:p>
            <a:pPr algn="r">
              <a:spcAft>
                <a:spcPts val="700"/>
              </a:spcAft>
              <a:defRPr sz="800" b="0">
                <a:solidFill>
                  <a:srgbClr val="5F6368"/>
                </a:solidFill>
                <a:latin typeface="Arial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